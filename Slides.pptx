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37"/>
    <p:restoredTop sz="94674"/>
  </p:normalViewPr>
  <p:slideViewPr>
    <p:cSldViewPr snapToGrid="0">
      <p:cViewPr>
        <p:scale>
          <a:sx n="135" d="100"/>
          <a:sy n="135" d="100"/>
        </p:scale>
        <p:origin x="504" y="5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37C744-38DF-0D48-BBAC-DE7523DAB936}" type="datetimeFigureOut">
              <a:rPr lang="en-US" smtClean="0"/>
              <a:t>10/2/26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ECF27C-1326-E147-8B12-441DE9618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7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CF27C-1326-E147-8B12-441DE96180D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361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594360"/>
            <a:ext cx="5120640" cy="3474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8A00"/>
                </a:solidFill>
              </a:defRPr>
            </a:pPr>
            <a:r>
              <a:t>ENERGY TECH INNOVATION PROTOTYPE | INDUSTRIAL SMES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51206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t>SME-EnergyIQ</a:t>
            </a:r>
          </a:p>
          <a:p>
            <a:pPr>
              <a:defRPr sz="1450">
                <a:solidFill>
                  <a:srgbClr val="94A3B8"/>
                </a:solidFill>
              </a:defRPr>
            </a:pPr>
            <a:r>
              <a:t>AI-Powered Industrial Energy Intelligence for Smart Manufacturing SMEs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5120640" cy="594360"/>
          </a:xfrm>
          <a:prstGeom prst="roundRect">
            <a:avLst/>
          </a:prstGeom>
          <a:solidFill>
            <a:srgbClr val="0F1E2C"/>
          </a:solidFill>
          <a:ln w="19050">
            <a:solidFill>
              <a:srgbClr val="00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rPr dirty="0"/>
              <a:t>MEASURE  -&gt;  DETECT  -&gt;  DIAGNOSE  -&gt;  OPTIMIZE  -&gt;  QUANTIFY  -&gt;  DECIDE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46120"/>
            <a:ext cx="512064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8A00"/>
                </a:solidFill>
              </a:defRPr>
            </a:pPr>
            <a:r>
              <a:t>100% Prec  |  0 False Positives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Hybrid condition monitoring eliminates 100% false alarms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512064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6B6D4"/>
                </a:solidFill>
              </a:defRPr>
            </a:pPr>
            <a:r>
              <a:t>Rs 1,127.79  |  Modeled Savings / Day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4.78% daily electricity cost reduction via ToD shifting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66360"/>
            <a:ext cx="512064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8A00"/>
                </a:solidFill>
              </a:defRPr>
            </a:pPr>
            <a:r>
              <a:t>12.51 kW  |  Peak Shaved (8.08%)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Coincident factory peak demand reduced from 154.89 to 142.38 kW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594360"/>
            <a:ext cx="5333695" cy="5257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textile_smart_factory_17891113797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640080"/>
            <a:ext cx="5242255" cy="4480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172200" y="5166360"/>
            <a:ext cx="5242255" cy="640080"/>
          </a:xfrm>
          <a:prstGeom prst="roundRect">
            <a:avLst/>
          </a:prstGeom>
          <a:solidFill>
            <a:srgbClr val="0A1926"/>
          </a:solidFill>
          <a:ln w="15240">
            <a:solidFill>
              <a:srgbClr val="00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TEXTILE MACHINES  -&gt;  SENSORS  -&gt;  DATA  -&gt;  AI  -&gt;  OPTIMIZATION  -&gt;  DECISION</a:t>
            </a:r>
          </a:p>
          <a:p>
            <a:pPr algn="ctr">
              <a:defRPr sz="850">
                <a:solidFill>
                  <a:srgbClr val="94A3B8"/>
                </a:solidFill>
              </a:defRPr>
            </a:pPr>
            <a:r>
              <a:t>Closed-loop industrial intelligence built specifically for smart manufacturing SMEs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6455664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SME-EnergyIQ | Schneider Electric Yuva Yodha Energy Tech Hackathon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6455664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i="1">
                <a:solidFill>
                  <a:srgbClr val="94A3B8"/>
                </a:solidFill>
              </a:defRPr>
            </a:pPr>
            <a:r>
              <a:t>Schneider Electric Yuva Yodha Energy Tech Hackathon 2026 | Independent Student Innovation Prototype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45775" y="645566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50" b="1">
                <a:solidFill>
                  <a:srgbClr val="008A00"/>
                </a:solidFill>
              </a:defRPr>
            </a:pPr>
            <a: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59669"/>
                </a:solidFill>
              </a:defRPr>
            </a:pPr>
            <a:r>
              <a:t>PROBLEM STATEMENT | THE SME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The Energy Intelligence Gap in Manufacturing SMEs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Operating on thin 3% to 8% margins, energy-intensive manufacturing SMEs face three compounding blindspots.</a:t>
            </a:r>
          </a:p>
        </p:txBody>
      </p:sp>
      <p:pic>
        <p:nvPicPr>
          <p:cNvPr id="5" name="Picture 4" descr="industrial_equipment_stress_17891114051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5212080" cy="3108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681728"/>
            <a:ext cx="5212080" cy="7772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C2626"/>
                </a:solidFill>
              </a:defRPr>
            </a:pPr>
            <a:r>
              <a:t>[!] PHYSICAL PLANT SYMPTOMS DETECTED IN HISTORICAL TELEMETRY</a:t>
            </a:r>
          </a:p>
          <a:p>
            <a:pPr algn="ctr">
              <a:defRPr sz="850">
                <a:solidFill>
                  <a:srgbClr val="0F172A"/>
                </a:solidFill>
              </a:defRPr>
            </a:pPr>
            <a:r>
              <a:t>Unmeasured idle power during shift breaks | Elevated bearing vibration (ISO Zone C) | Uncoordinated peak pumping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508760"/>
            <a:ext cx="5333695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100" b="1">
                <a:solidFill>
                  <a:srgbClr val="DC2626"/>
                </a:solidFill>
              </a:defRPr>
            </a:pPr>
            <a:r>
              <a:t>01 | ENERGY BLINDNESS  -  "Where is energy being wasted?"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Monthly utility bills arrive weeks late. Passive metering cannot isolate machine-level idle waste (13.40 kWh/day cut by optimizer) during breaks.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834639"/>
            <a:ext cx="5333695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100" b="1">
                <a:solidFill>
                  <a:srgbClr val="D97706"/>
                </a:solidFill>
              </a:defRPr>
            </a:pPr>
            <a:r>
              <a:t>02 | REACTIVE MAINTENANCE  -  "Which machine is behaving abnormally?"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Hidden mechanical wear, compressor unloader leaks, and motor overheating remain undetected until catastrophic downtime halts cascading plant lines.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4160520"/>
            <a:ext cx="5333695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03 | HEALTH-BLIND SCHEDULING  -  "When should production run?"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Production shifts are scheduled strictly for volume. Running heavy assets into the Rs 10/kWh peak tariff spikes power bills and risks tripping contract demand.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577840"/>
            <a:ext cx="10728655" cy="685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DC2626"/>
                </a:solidFill>
              </a:defRPr>
            </a:pPr>
            <a:r>
              <a:t>CONSEQUENCE:   ENERGY COST [^]   +   DOWNTIME RISK [^]   +   UNNECESSARY CARBON [^]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Target Context: Energy-intensive manufacturing SMEs operating on thin 3-8% margins without dedicated energy engineering staff.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6455664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SME-EnergyIQ | Schneider Electric Yuva Yodha Energy Tech Hackathon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45775" y="645566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59669"/>
                </a:solidFill>
              </a:defRPr>
            </a:pPr>
            <a:r>
              <a:t>MARKET LANDSCAPE | THE FRAGMENTATION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Most Tools Solve Only One Piece of the Puzzle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Common commercial systems operate in functional silos, leaving critical blindspots between sensing, diagnosis, and action.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254203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ENERGY MONITORING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"What happened?"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Historical kWh dashboards &amp; monthly utility billing trends.</a:t>
            </a:r>
          </a:p>
          <a:p>
            <a:pPr>
              <a:defRPr sz="850" b="1">
                <a:solidFill>
                  <a:srgbClr val="DC2626"/>
                </a:solidFill>
              </a:defRPr>
            </a:pPr>
            <a:r>
              <a:t>[X] Passive logging; blind to machine condition &amp; ToD dispatch.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508760"/>
            <a:ext cx="254203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D97706"/>
                </a:solidFill>
              </a:defRPr>
            </a:pPr>
            <a:r>
              <a:t>PREDICTIVE MAINTENANCE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"Is something wrong?"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Vibration &amp; thermal sensors with vibration alarms.</a:t>
            </a:r>
          </a:p>
          <a:p>
            <a:pPr>
              <a:defRPr sz="850" b="1">
                <a:solidFill>
                  <a:srgbClr val="DC2626"/>
                </a:solidFill>
              </a:defRPr>
            </a:pPr>
            <a:r>
              <a:t>[X] Standalone maintenance silo; blind to ToD tariffs &amp; shift quotas.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508760"/>
            <a:ext cx="254203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9333EA"/>
                </a:solidFill>
              </a:defRPr>
            </a:pPr>
            <a:r>
              <a:t>PRODUCTION SCHEDULING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"When should we run?"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ERP &amp; MES job dispatching focused strictly on output quotas.</a:t>
            </a:r>
          </a:p>
          <a:p>
            <a:pPr>
              <a:defRPr sz="850" b="1">
                <a:solidFill>
                  <a:srgbClr val="DC2626"/>
                </a:solidFill>
              </a:defRPr>
            </a:pPr>
            <a:r>
              <a:t>[X] Health-blind; dispatches stressed assets into Rs 10 peak grid hours.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06256" y="1508760"/>
            <a:ext cx="254203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CARBON / ESG REPORTING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"What is the impact?"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Static retrospective annual Scope 2 spreadsheet calculations.</a:t>
            </a:r>
          </a:p>
          <a:p>
            <a:pPr>
              <a:defRPr sz="850" b="1">
                <a:solidFill>
                  <a:srgbClr val="DC2626"/>
                </a:solidFill>
              </a:defRPr>
            </a:pPr>
            <a:r>
              <a:t>[X] Disconnected from factory floor; cannot guide operational load shifts.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11880"/>
            <a:ext cx="1072865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008A00"/>
                </a:solidFill>
              </a:defRPr>
            </a:pPr>
            <a:r>
              <a:t>[v]   FRAGMENTED COMMERCIAL TOOLS CONVERGE INTO A SINGLE CLOSED LOOP   [v]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77639"/>
            <a:ext cx="10728655" cy="1508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SME-EnergyIQ: ONE CLOSED DECISION LOOP</a:t>
            </a:r>
          </a:p>
          <a:p>
            <a:pPr algn="ctr">
              <a:defRPr sz="1200" b="1">
                <a:solidFill>
                  <a:srgbClr val="008A00"/>
                </a:solidFill>
              </a:defRPr>
            </a:pPr>
            <a:r>
              <a:t>ENERGY TELEMETRY   -&gt;   MACHINE HEALTH   -&gt;   OPTIMAL SCHEDULE   -&gt;   VERIFIED CARBON IMPACT</a:t>
            </a:r>
          </a:p>
          <a:p>
            <a:pPr algn="ctr">
              <a:defRPr sz="950">
                <a:solidFill>
                  <a:srgbClr val="94A3B8"/>
                </a:solidFill>
              </a:defRPr>
            </a:pPr>
            <a:r>
              <a:t>Instead of four disconnected tools, SME-EnergyIQ unites sensing, diagnostics, mathematical scheduling, and carbon accounting into an integrated software platform.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596128"/>
            <a:ext cx="10728655" cy="65836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59669"/>
                </a:solidFill>
              </a:defRPr>
            </a:pPr>
            <a:r>
              <a:t>KEY ADVANTAGE: Factory managers make decisions that are simultaneously cost-effective, health-aware, and carbon-optimized.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6455664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SME-EnergyIQ | Schneider Electric Yuva Yodha Energy Tech Hackathon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45775" y="645566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59669"/>
                </a:solidFill>
              </a:defRPr>
            </a:pPr>
            <a:r>
              <a:t>PLATFORM ARCHITECTURE | FIVE CONNECTED INTELLIGENCE 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From Data to Intelligent Factory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A modular five-stage software stack bridging physical machine telemetry to executive operational dispatch.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685800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050" b="1">
                <a:solidFill>
                  <a:srgbClr val="2563EB"/>
                </a:solidFill>
              </a:defRPr>
            </a:pPr>
            <a:r>
              <a:t>LAYER 1: ENERGY INTELLIGENCE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15-min interval sub-metering, Specific Energy Consumption (0.696 kWh/kg yarn), and idle waste tracking during meal breaks.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685800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050" b="1">
                <a:solidFill>
                  <a:srgbClr val="008A00"/>
                </a:solidFill>
              </a:defRPr>
            </a:pPr>
            <a:r>
              <a:t>LAYER 2: AI ANOMALY DETECTION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Per-machine Isolation Forest analyzing multi-variate interactions across Power, Temp, Vibration, and RPM to detect abnormal drift.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63239"/>
            <a:ext cx="685800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050" b="1">
                <a:solidFill>
                  <a:srgbClr val="D97706"/>
                </a:solidFill>
              </a:defRPr>
            </a:pPr>
            <a:r>
              <a:t>LAYER 3: MACHINE HEALTH DIAGNOSTICS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ISO 10816-3 mechanical vibration zones (A to D), Health Scores (100/100 nominal), and 4-tier explainable diagnostic alerts.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79"/>
            <a:ext cx="685800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050" b="1">
                <a:solidFill>
                  <a:srgbClr val="2563EB"/>
                </a:solidFill>
              </a:defRPr>
            </a:pPr>
            <a:r>
              <a:t>LAYER 4: PRODUCTION OPTIMIZATION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PuLP 24-hour MILP mathematical scheduling, shifting flexible pumping and air into off-peak ToD tariffs while respecting machine wear.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17720"/>
            <a:ext cx="685800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050" b="1">
                <a:solidFill>
                  <a:srgbClr val="059669"/>
                </a:solidFill>
              </a:defRPr>
            </a:pPr>
            <a:r>
              <a:t>LAYER 5: CARBON INTELLIGENCE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Dynamic Scope 2 GHG protocol accounting (0.82 kg CO2e/kWh benchmark), tracking product carbon intensity and avoided emissions.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02575" y="1508760"/>
            <a:ext cx="3657600" cy="38862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defRPr sz="1100" b="1">
                <a:solidFill>
                  <a:srgbClr val="008A00"/>
                </a:solidFill>
              </a:defRPr>
            </a:pPr>
            <a:r>
              <a:t>THE CORE DECISION LOOP</a:t>
            </a:r>
          </a:p>
          <a:p>
            <a:pPr algn="ctr">
              <a:defRPr sz="950" b="1">
                <a:solidFill>
                  <a:srgbClr val="FFFFFF"/>
                </a:solidFill>
              </a:defRPr>
            </a:pPr>
            <a:r>
              <a:t>[v]  MEASURE: Sub-meters &amp; Sensors</a:t>
            </a:r>
          </a:p>
          <a:p>
            <a:pPr algn="ctr">
              <a:defRPr sz="950" b="1">
                <a:solidFill>
                  <a:srgbClr val="FFFFFF"/>
                </a:solidFill>
              </a:defRPr>
            </a:pPr>
            <a:r>
              <a:t>[v]  DETECT: Isolation Forest ML</a:t>
            </a:r>
          </a:p>
          <a:p>
            <a:pPr algn="ctr">
              <a:defRPr sz="950" b="1">
                <a:solidFill>
                  <a:srgbClr val="FFFFFF"/>
                </a:solidFill>
              </a:defRPr>
            </a:pPr>
            <a:r>
              <a:t>[v]  DIAGNOSE: ISO 10816-3 &amp; State Filter</a:t>
            </a:r>
          </a:p>
          <a:p>
            <a:pPr algn="ctr">
              <a:defRPr sz="950" b="1">
                <a:solidFill>
                  <a:srgbClr val="FFFFFF"/>
                </a:solidFill>
              </a:defRPr>
            </a:pPr>
            <a:r>
              <a:t>[v]  OPTIMIZE: PuLP 24h MILP Engine</a:t>
            </a:r>
          </a:p>
          <a:p>
            <a:pPr algn="ctr">
              <a:defRPr sz="950" b="1">
                <a:solidFill>
                  <a:srgbClr val="FFFFFF"/>
                </a:solidFill>
              </a:defRPr>
            </a:pPr>
            <a:r>
              <a:t>[v]  QUANTIFY: Scope 2 GHG Protocol</a:t>
            </a:r>
          </a:p>
          <a:p>
            <a:pPr algn="ctr">
              <a:defRPr sz="950" b="1">
                <a:solidFill>
                  <a:srgbClr val="FFFFFF"/>
                </a:solidFill>
              </a:defRPr>
            </a:pPr>
            <a:r>
              <a:t>[v]  DECIDE: Operator Shift Dispatch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532120"/>
            <a:ext cx="10728655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ONE PLATFORM.   ONE DATA MODEL.   ONE CLOSED DECISION LOOP.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Empowering factory teams to schedule shifts that are simultaneously energy-efficient, health-conscious, and carbon-aware.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6455664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SME-EnergyIQ | Schneider Electric Yuva Yodha Energy Tech Hackathon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45775" y="645566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59669"/>
                </a:solidFill>
              </a:defRPr>
            </a:pPr>
            <a:r>
              <a:t>SYSTEM ARCHITECTURE | HARDWARE-AGNOSTIC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How SME-EnergyIQ Works: Edge-to-Decision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End-to-end telemetry flow from non-invasive industrial sensors to mathematical optimization and plant-manager action.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2542032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456432" y="1508760"/>
            <a:ext cx="2542032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81344" y="1508760"/>
            <a:ext cx="2542032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08A00"/>
                </a:solidFill>
              </a:defRPr>
            </a:pPr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906256" y="1508760"/>
            <a:ext cx="2542032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9333EA"/>
                </a:solidFill>
              </a:defRPr>
            </a:pPr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4572000"/>
            <a:ext cx="10728655" cy="8686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&lt;-- CLOSED OPERATIONAL FEEDBACK LOOP &lt;--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Machine Health Derating  --&gt;  Optimizer Feasibility  --&gt;  Shift Schedule Dispatch  --&gt;  Factory Operations  --&gt;  New Telemetry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577840"/>
            <a:ext cx="10728655" cy="685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HARDWARE-AGNOSTIC BROWNFIELD RETROFIT ARCHITECTURE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Designed for standard commercial split-core current transformers and industrial Modbus transducers. Does not require replacing legacy factory machines.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6455664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SME-EnergyIQ | Schneider Electric Yuva Yodha Energy Tech Hackathon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45775" y="645566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05 /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600200"/>
            <a:ext cx="2359152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>
                <a:solidFill>
                  <a:srgbClr val="2563EB"/>
                </a:solidFill>
                <a:latin typeface="Segoe UI"/>
              </a:rPr>
              <a:t>STAGE 1: ASSETS &amp; SENSORS</a:t>
            </a:r>
          </a:p>
          <a:p>
            <a:pPr algn="ctr">
              <a:spcAft>
                <a:spcPts val="6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Physical Plant Layer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0F172A"/>
                </a:solidFill>
                <a:latin typeface="Segoe UI"/>
              </a:rPr>
              <a:t>Factory Machines</a:t>
            </a:r>
          </a:p>
          <a:p>
            <a:r>
              <a:rPr sz="800" b="1">
                <a:solidFill>
                  <a:srgbClr val="2563EB"/>
                </a:solidFill>
                <a:latin typeface="Segoe UI"/>
              </a:rPr>
              <a:t>• </a:t>
            </a:r>
            <a:r>
              <a:rPr sz="800" b="1">
                <a:solidFill>
                  <a:srgbClr val="0F172A"/>
                </a:solidFill>
                <a:latin typeface="Segoe UI"/>
              </a:rPr>
              <a:t>MOTOR_01: </a:t>
            </a:r>
            <a:r>
              <a:rPr sz="780">
                <a:solidFill>
                  <a:srgbClr val="334155"/>
                </a:solidFill>
                <a:latin typeface="Segoe UI"/>
              </a:rPr>
              <a:t>Ring Spinning Motor</a:t>
            </a:r>
          </a:p>
          <a:p>
            <a:r>
              <a:rPr sz="800" b="1">
                <a:solidFill>
                  <a:srgbClr val="2563EB"/>
                </a:solidFill>
                <a:latin typeface="Segoe UI"/>
              </a:rPr>
              <a:t>• </a:t>
            </a:r>
            <a:r>
              <a:rPr sz="800" b="1">
                <a:solidFill>
                  <a:srgbClr val="0F172A"/>
                </a:solidFill>
                <a:latin typeface="Segoe UI"/>
              </a:rPr>
              <a:t>COMPRESSOR_01: </a:t>
            </a:r>
            <a:r>
              <a:rPr sz="780">
                <a:solidFill>
                  <a:srgbClr val="334155"/>
                </a:solidFill>
                <a:latin typeface="Segoe UI"/>
              </a:rPr>
              <a:t>Air Compressor</a:t>
            </a:r>
          </a:p>
          <a:p>
            <a:r>
              <a:rPr sz="800" b="1">
                <a:solidFill>
                  <a:srgbClr val="2563EB"/>
                </a:solidFill>
                <a:latin typeface="Segoe UI"/>
              </a:rPr>
              <a:t>• </a:t>
            </a:r>
            <a:r>
              <a:rPr sz="800" b="1">
                <a:solidFill>
                  <a:srgbClr val="0F172A"/>
                </a:solidFill>
                <a:latin typeface="Segoe UI"/>
              </a:rPr>
              <a:t>PUMP_01: </a:t>
            </a:r>
            <a:r>
              <a:rPr sz="780">
                <a:solidFill>
                  <a:srgbClr val="334155"/>
                </a:solidFill>
                <a:latin typeface="Segoe UI"/>
              </a:rPr>
              <a:t>Dyeing / Process Pump</a:t>
            </a:r>
          </a:p>
          <a:p>
            <a:r>
              <a:rPr sz="800" b="1">
                <a:solidFill>
                  <a:srgbClr val="2563EB"/>
                </a:solidFill>
                <a:latin typeface="Segoe UI"/>
              </a:rPr>
              <a:t>• </a:t>
            </a:r>
            <a:r>
              <a:rPr sz="800" b="1">
                <a:solidFill>
                  <a:srgbClr val="0F172A"/>
                </a:solidFill>
                <a:latin typeface="Segoe UI"/>
              </a:rPr>
              <a:t>HVAC_01: </a:t>
            </a:r>
            <a:r>
              <a:rPr sz="780">
                <a:solidFill>
                  <a:srgbClr val="334155"/>
                </a:solidFill>
                <a:latin typeface="Segoe UI"/>
              </a:rPr>
              <a:t>Climate Control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00" b="1">
                <a:solidFill>
                  <a:srgbClr val="0F172A"/>
                </a:solidFill>
                <a:latin typeface="Segoe UI"/>
              </a:rPr>
              <a:t>Telemetry Captured</a:t>
            </a:r>
          </a:p>
          <a:p>
            <a:r>
              <a:rPr sz="780">
                <a:solidFill>
                  <a:srgbClr val="334155"/>
                </a:solidFill>
                <a:latin typeface="Segoe UI"/>
              </a:rPr>
              <a:t>Power (kW), Voltage, Energy (kWh),
Temperature (°C), Vibration (mm/s),
RPM, Production 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1600200"/>
            <a:ext cx="2359152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>
                <a:solidFill>
                  <a:srgbClr val="0284C7"/>
                </a:solidFill>
                <a:latin typeface="Segoe UI"/>
              </a:rPr>
              <a:t>STAGE 2: EDGE GATEWAY</a:t>
            </a:r>
          </a:p>
          <a:p>
            <a:pPr algn="ctr">
              <a:spcAft>
                <a:spcPts val="6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Standard Ingestion</a:t>
            </a:r>
          </a:p>
          <a:p>
            <a:r>
              <a:rPr sz="900" b="1">
                <a:solidFill>
                  <a:srgbClr val="0F172A"/>
                </a:solidFill>
                <a:latin typeface="Segoe UI"/>
              </a:rPr>
              <a:t>Sensors / Energy Meters</a:t>
            </a:r>
          </a:p>
          <a:p>
            <a:r>
              <a:rPr sz="780">
                <a:solidFill>
                  <a:srgbClr val="334155"/>
                </a:solidFill>
                <a:latin typeface="Segoe UI"/>
              </a:rPr>
              <a:t>Split-core CTs &amp; digital power meters</a:t>
            </a:r>
          </a:p>
          <a:p>
            <a:pPr algn="ctr"/>
            <a:r>
              <a:rPr sz="950" b="1">
                <a:solidFill>
                  <a:srgbClr val="0284C7"/>
                </a:solidFill>
                <a:latin typeface="Segoe UI"/>
              </a:rPr>
              <a:t>↓</a:t>
            </a:r>
          </a:p>
          <a:p>
            <a:r>
              <a:rPr sz="900" b="1">
                <a:solidFill>
                  <a:srgbClr val="0F172A"/>
                </a:solidFill>
                <a:latin typeface="Segoe UI"/>
              </a:rPr>
              <a:t>Data Acquisition</a:t>
            </a:r>
          </a:p>
          <a:p>
            <a:r>
              <a:rPr sz="780">
                <a:solidFill>
                  <a:srgbClr val="334155"/>
                </a:solidFill>
                <a:latin typeface="Segoe UI"/>
              </a:rPr>
              <a:t>Sub-metering @ 15-min intervals</a:t>
            </a:r>
          </a:p>
          <a:p>
            <a:pPr algn="ctr"/>
            <a:r>
              <a:rPr sz="950" b="1">
                <a:solidFill>
                  <a:srgbClr val="0284C7"/>
                </a:solidFill>
                <a:latin typeface="Segoe UI"/>
              </a:rPr>
              <a:t>↓</a:t>
            </a:r>
          </a:p>
          <a:p>
            <a:r>
              <a:rPr sz="900" b="1">
                <a:solidFill>
                  <a:srgbClr val="0F172A"/>
                </a:solidFill>
                <a:latin typeface="Segoe UI"/>
              </a:rPr>
              <a:t>Edge Gateway</a:t>
            </a:r>
          </a:p>
          <a:p>
            <a:r>
              <a:rPr sz="780">
                <a:solidFill>
                  <a:srgbClr val="334155"/>
                </a:solidFill>
                <a:latin typeface="Segoe UI"/>
              </a:rPr>
              <a:t>Local buffering (fault-tolerant buffer)</a:t>
            </a:r>
          </a:p>
          <a:p>
            <a:pPr>
              <a:spcBef>
                <a:spcPts val="600"/>
              </a:spcBef>
            </a:pPr>
            <a:r>
              <a:rPr sz="850" b="1">
                <a:solidFill>
                  <a:srgbClr val="0F172A"/>
                </a:solidFill>
                <a:latin typeface="Segoe UI"/>
              </a:rPr>
              <a:t>Industrial Communication:</a:t>
            </a:r>
          </a:p>
          <a:p>
            <a:r>
              <a:rPr sz="780" b="1">
                <a:solidFill>
                  <a:srgbClr val="0284C7"/>
                </a:solidFill>
                <a:latin typeface="Segoe UI"/>
              </a:rPr>
              <a:t>Modbus RTU / MQTT (Hardware-Agnostic)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2784" y="1600200"/>
            <a:ext cx="2359152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>
                <a:solidFill>
                  <a:srgbClr val="008A00"/>
                </a:solidFill>
                <a:latin typeface="Segoe UI"/>
              </a:rPr>
              <a:t>STAGE 3: CORE ANALYTICS</a:t>
            </a:r>
          </a:p>
          <a:p>
            <a:pPr algn="ctr">
              <a:spcAft>
                <a:spcPts val="6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Intelligence Engine</a:t>
            </a:r>
          </a:p>
          <a:p>
            <a:r>
              <a:rPr sz="850" b="1">
                <a:solidFill>
                  <a:srgbClr val="0F172A"/>
                </a:solidFill>
                <a:latin typeface="Segoe UI"/>
              </a:rPr>
              <a:t>Data Processing</a:t>
            </a:r>
          </a:p>
          <a:p>
            <a:r>
              <a:rPr sz="750">
                <a:solidFill>
                  <a:srgbClr val="334155"/>
                </a:solidFill>
                <a:latin typeface="Segoe UI"/>
              </a:rPr>
              <a:t>Plausibility audit &amp; feature engineering</a:t>
            </a:r>
          </a:p>
          <a:p>
            <a:pPr algn="ctr"/>
            <a:r>
              <a:rPr sz="850" b="1">
                <a:solidFill>
                  <a:srgbClr val="008A00"/>
                </a:solidFill>
                <a:latin typeface="Segoe UI"/>
              </a:rPr>
              <a:t>↓</a:t>
            </a:r>
          </a:p>
          <a:p>
            <a:r>
              <a:rPr sz="850" b="1">
                <a:solidFill>
                  <a:srgbClr val="0F172A"/>
                </a:solidFill>
                <a:latin typeface="Segoe UI"/>
              </a:rPr>
              <a:t>AI Anomaly Detection</a:t>
            </a:r>
          </a:p>
          <a:p>
            <a:r>
              <a:rPr sz="750">
                <a:solidFill>
                  <a:srgbClr val="334155"/>
                </a:solidFill>
                <a:latin typeface="Segoe UI"/>
              </a:rPr>
              <a:t>Unsupervised Isolation Forest model</a:t>
            </a:r>
          </a:p>
          <a:p>
            <a:pPr algn="ctr"/>
            <a:r>
              <a:rPr sz="850" b="1">
                <a:solidFill>
                  <a:srgbClr val="008A00"/>
                </a:solidFill>
                <a:latin typeface="Segoe UI"/>
              </a:rPr>
              <a:t>↓</a:t>
            </a:r>
          </a:p>
          <a:p>
            <a:r>
              <a:rPr sz="850" b="1">
                <a:solidFill>
                  <a:srgbClr val="0F172A"/>
                </a:solidFill>
                <a:latin typeface="Segoe UI"/>
              </a:rPr>
              <a:t>Machine Health</a:t>
            </a:r>
          </a:p>
          <a:p>
            <a:r>
              <a:rPr sz="750">
                <a:solidFill>
                  <a:srgbClr val="334155"/>
                </a:solidFill>
                <a:latin typeface="Segoe UI"/>
              </a:rPr>
              <a:t>ISO 10816-3 severity &amp; 0-100 score</a:t>
            </a:r>
          </a:p>
          <a:p>
            <a:pPr algn="ctr"/>
            <a:r>
              <a:rPr sz="850" b="1">
                <a:solidFill>
                  <a:srgbClr val="008A00"/>
                </a:solidFill>
                <a:latin typeface="Segoe UI"/>
              </a:rPr>
              <a:t>↓</a:t>
            </a:r>
          </a:p>
          <a:p>
            <a:r>
              <a:rPr sz="850" b="1">
                <a:solidFill>
                  <a:srgbClr val="0F172A"/>
                </a:solidFill>
                <a:latin typeface="Segoe UI"/>
              </a:rPr>
              <a:t>Explainable Diagnostics</a:t>
            </a:r>
          </a:p>
          <a:p>
            <a:r>
              <a:rPr sz="750">
                <a:solidFill>
                  <a:srgbClr val="334155"/>
                </a:solidFill>
                <a:latin typeface="Segoe UI"/>
              </a:rPr>
              <a:t>4-tier actionable engineering insights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1600200"/>
            <a:ext cx="2359152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>
                <a:solidFill>
                  <a:srgbClr val="7C3AED"/>
                </a:solidFill>
                <a:latin typeface="Segoe UI"/>
              </a:rPr>
              <a:t>STAGE 4: PLANT DISPATCH</a:t>
            </a:r>
          </a:p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Operator Decision</a:t>
            </a:r>
          </a:p>
          <a:p>
            <a:r>
              <a:rPr sz="850" b="1">
                <a:solidFill>
                  <a:srgbClr val="0F172A"/>
                </a:solidFill>
                <a:latin typeface="Segoe UI"/>
              </a:rPr>
              <a:t>Production Optimization</a:t>
            </a:r>
          </a:p>
          <a:p>
            <a:pPr>
              <a:spcAft>
                <a:spcPts val="400"/>
              </a:spcAft>
            </a:pPr>
            <a:r>
              <a:rPr sz="780" b="1">
                <a:solidFill>
                  <a:srgbClr val="7C3AED"/>
                </a:solidFill>
                <a:latin typeface="Segoe UI"/>
              </a:rPr>
              <a:t>MILP Optimizer (PuLP 24h Model)</a:t>
            </a:r>
          </a:p>
          <a:p>
            <a:r>
              <a:rPr sz="800" b="1">
                <a:solidFill>
                  <a:srgbClr val="0F172A"/>
                </a:solidFill>
                <a:latin typeface="Segoe UI"/>
              </a:rPr>
              <a:t>Inputs:</a:t>
            </a:r>
          </a:p>
          <a:p>
            <a:r>
              <a:rPr sz="720">
                <a:solidFill>
                  <a:srgbClr val="334155"/>
                </a:solidFill>
                <a:latin typeface="Segoe UI"/>
              </a:rPr>
              <a:t>• Time-of-Day Tariff (Peak ₹10/kWh)</a:t>
            </a:r>
          </a:p>
          <a:p>
            <a:r>
              <a:rPr sz="720">
                <a:solidFill>
                  <a:srgbClr val="334155"/>
                </a:solidFill>
                <a:latin typeface="Segoe UI"/>
              </a:rPr>
              <a:t>• Machine Health Deratings</a:t>
            </a:r>
          </a:p>
          <a:p>
            <a:r>
              <a:rPr sz="720">
                <a:solidFill>
                  <a:srgbClr val="334155"/>
                </a:solidFill>
                <a:latin typeface="Segoe UI"/>
              </a:rPr>
              <a:t>• Production Constraints (4,500 kg)</a:t>
            </a:r>
          </a:p>
          <a:p>
            <a:r>
              <a:rPr sz="720">
                <a:solidFill>
                  <a:srgbClr val="334155"/>
                </a:solidFill>
                <a:latin typeface="Segoe UI"/>
              </a:rPr>
              <a:t>• Process / Batch Constraints</a:t>
            </a:r>
          </a:p>
          <a:p>
            <a:pPr>
              <a:spcBef>
                <a:spcPts val="300"/>
              </a:spcBef>
            </a:pPr>
            <a:r>
              <a:rPr sz="800" b="1">
                <a:solidFill>
                  <a:srgbClr val="0F172A"/>
                </a:solidFill>
                <a:latin typeface="Segoe UI"/>
              </a:rPr>
              <a:t>Outputs:</a:t>
            </a:r>
          </a:p>
          <a:p>
            <a:r>
              <a:rPr sz="720">
                <a:solidFill>
                  <a:srgbClr val="334155"/>
                </a:solidFill>
                <a:latin typeface="Segoe UI"/>
              </a:rPr>
              <a:t>• Optimized Schedule (Shifted load)</a:t>
            </a:r>
          </a:p>
          <a:p>
            <a:r>
              <a:rPr sz="720">
                <a:solidFill>
                  <a:srgbClr val="334155"/>
                </a:solidFill>
                <a:latin typeface="Segoe UI"/>
              </a:rPr>
              <a:t>• Energy Impact (-13.4 kWh/d)</a:t>
            </a:r>
          </a:p>
          <a:p>
            <a:r>
              <a:rPr sz="720">
                <a:solidFill>
                  <a:srgbClr val="334155"/>
                </a:solidFill>
                <a:latin typeface="Segoe UI"/>
              </a:rPr>
              <a:t>• Cost Impact (-4.78%, ₹1,128/d)</a:t>
            </a:r>
          </a:p>
          <a:p>
            <a:r>
              <a:rPr sz="720">
                <a:solidFill>
                  <a:srgbClr val="334155"/>
                </a:solidFill>
                <a:latin typeface="Segoe UI"/>
              </a:rPr>
              <a:t>• Peak Demand Impact (-8.08%)</a:t>
            </a:r>
          </a:p>
          <a:p>
            <a:r>
              <a:rPr sz="720">
                <a:solidFill>
                  <a:srgbClr val="334155"/>
                </a:solidFill>
                <a:latin typeface="Segoe UI"/>
              </a:rPr>
              <a:t>• SEC / Carbon Impact (-11 kg CO2e)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59669"/>
                </a:solidFill>
              </a:defRPr>
            </a:pPr>
            <a:r>
              <a:t>PREDICTIVE DIAGNOSTICS | PHYSICS + AI FUSION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AI That Doesn't Act Alone: Hybrid Diagnostic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Machine learning identifies abnormal operating patterns, while physical standards and operational context eliminate false alarms.</a:t>
            </a:r>
          </a:p>
        </p:txBody>
      </p:sp>
      <p:pic>
        <p:nvPicPr>
          <p:cNvPr id="5" name="Picture 4" descr="motor_sensor_diagnostics_17891114691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5212080" cy="3017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617720"/>
            <a:ext cx="521208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LIVE SENSOR TELEMETRY SIGNALS ANALYZED:</a:t>
            </a:r>
          </a:p>
          <a:p>
            <a:pPr algn="ctr">
              <a:defRPr sz="900" b="1">
                <a:solidFill>
                  <a:srgbClr val="DC2626"/>
                </a:solidFill>
              </a:defRPr>
            </a:pPr>
            <a:r>
              <a:t>Power: 42.1 kW [^]  |  Temp: 78.4 deg C [^]  |  Vib: 5.12 mm/s [^] (ISO Zone C)  |  RPM: 1,420 [v]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508760"/>
            <a:ext cx="5333695" cy="3017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100" b="1">
                <a:solidFill>
                  <a:srgbClr val="D97706"/>
                </a:solidFill>
              </a:defRPr>
            </a:pPr>
            <a:r>
              <a:t>[!] EXPLAINABLE 4-TIER OPERATOR DIAGNOSTIC ALERT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Transparent Physical Evidence (No Black-Box Decisions)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1. SENSOR EVIDENCE: Power = 42.1 kW | Temp = 78.4 deg C | Vibration = 5.12 mm/s (ISO Zone C Unsatisfactory)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2. AI INFERENCE: Anomaly Score = 82.5/100 | Multi-variate divergence from nominal operating cluster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3. PHYSICAL HYPOTHESIS: Bearing cage degradation with elevated mechanical friction causing localized vibration &amp; heat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4. RECOMMENDED ACTION: Schedule lubrication &amp; bearing check within 48h. Automatically apply 85% capacity derating in optimizer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617720"/>
            <a:ext cx="5333695" cy="84124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59669"/>
                </a:solidFill>
              </a:defRPr>
            </a:pPr>
            <a:r>
              <a:t>MACHINE HEALTH: 100/100 NOMINAL (CURRENT INTERVAL)</a:t>
            </a:r>
          </a:p>
          <a:p>
            <a:pPr algn="ctr">
              <a:defRPr sz="900">
                <a:solidFill>
                  <a:srgbClr val="0F172A"/>
                </a:solidFill>
              </a:defRPr>
            </a:pPr>
            <a:r>
              <a:t>Active Alarms: 0 Active in current evaluation window  |  14-Day Cumulative Incidents: 99 (64 Critical, 35 High)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728655" cy="685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F172A"/>
                </a:solidFill>
              </a:defRPr>
            </a:pPr>
            <a:r>
              <a:t>IMPORTANT CLAIM DISCIPLINE: AI provides early diagnostic support, not failure prediction.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We never claim black-box machine breakdown predictions - we equip plant engineers with transparent, physical evidence to mitigate downtime.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6455664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SME-EnergyIQ | Schneider Electric Yuva Yodha Energy Tech Hackathon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45775" y="645566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59669"/>
                </a:solidFill>
              </a:defRPr>
            </a:pPr>
            <a:r>
              <a:t>MATHEMATICAL SCHEDULING | PULP MILP FORMULATION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From Detection to Action: 24-Hour Production Scheduling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Searching for a mathematically feasible production schedule that minimizes energy cost and shaves peak grid demand.</a:t>
            </a:r>
          </a:p>
        </p:txBody>
      </p:sp>
      <p:pic>
        <p:nvPicPr>
          <p:cNvPr id="5" name="Picture 4" descr="slide7_timelin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10728655" cy="3154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681728"/>
            <a:ext cx="52578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50" b="1">
                <a:solidFill>
                  <a:srgbClr val="2563EB"/>
                </a:solidFill>
              </a:defRPr>
            </a:pPr>
            <a:r>
              <a:t>PuLP MILP MATHEMATICAL FORMULATION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• Objective: min Z = sum(Tariff[h] * Power[m,h]) + w_peak * Peak_Demand</a:t>
            </a:r>
            <a:br/>
            <a:r>
              <a:t>• Variables: 193 Continuous Variables, 48 Binary (BatchStart, BatchActive)</a:t>
            </a:r>
            <a:br/>
            <a:r>
              <a:t>• Constraints: 412 Linear Constraints solved in ~0.75s via PuLP COIN-OR CBC</a:t>
            </a:r>
            <a:br/>
            <a:r>
              <a:t>• Batch Specs: Contiguous 3h run, min rate 80.0 m3/h (Simulation assumption - not measured factory data, centralized in src/utils.py).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2375" y="4681728"/>
            <a:ext cx="5257800" cy="15087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50" b="1">
                <a:solidFill>
                  <a:srgbClr val="059669"/>
                </a:solidFill>
              </a:defRPr>
            </a:pPr>
            <a:r>
              <a:t>OPTIMIZATION CONSTRAINTS &amp; PRODUCTION GUARANTEES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Production Quotas Preserved: 4,500 kg yarn &amp; 2,500 m3 dyeing liquor (100.0% met)</a:t>
            </a:r>
            <a:br/>
            <a:r>
              <a:t>• Process Coupling: HVAC airflow bound to spinning (gamma = 22.7 m3/kg)</a:t>
            </a:r>
            <a:br/>
            <a:r>
              <a:t>• Machine Health Derating: High-risk capped at 85%; Critical halted (0%)</a:t>
            </a:r>
            <a:br/>
            <a:r>
              <a:t>• 5 Dyeing Batches (15h active): ZERO runs during Rs 10 peak tariff window (18:00-22:00)</a:t>
            </a:r>
            <a:br/>
            <a:r>
              <a:t>• Cost &amp; Peak: Rs 23,575.50 -&gt; Rs 22,447.71 (-4.78%) | Peak: 154.89 -&gt; 142.38 kW (-8.08%).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6455664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SME-EnergyIQ | Schneider Electric Yuva Yodha Energy Tech Hackathon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6455664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i="1">
                <a:solidFill>
                  <a:srgbClr val="64748B"/>
                </a:solidFill>
              </a:defRPr>
            </a:pPr>
            <a:r>
              <a:t>Model-Estimated 24-Hour Optimization Scenario | All Production Quotas Met Exactly at 100.0%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45775" y="645566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59669"/>
                </a:solidFill>
              </a:defRPr>
            </a:pPr>
            <a:r>
              <a:t>VALIDATED BENCHMARK RESULTS | DUAL ENGINE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Measured by Numbers - Not Claims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Rigorous evaluation on 5,248 operational observations and 24-hour mathematical scheduling optimization.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254203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97.06%</a:t>
            </a:r>
          </a:p>
          <a:p>
            <a:pPr algn="ctr">
              <a:defRPr sz="850" b="1">
                <a:solidFill>
                  <a:srgbClr val="0F172A"/>
                </a:solidFill>
              </a:defRPr>
            </a:pPr>
            <a:r>
              <a:t>HYBRID F1 SCORE | vs 66.67% AI-Only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417320"/>
            <a:ext cx="254203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8A00"/>
                </a:solidFill>
              </a:defRPr>
            </a:pPr>
            <a:r>
              <a:t>100.00%</a:t>
            </a:r>
          </a:p>
          <a:p>
            <a:pPr algn="ctr">
              <a:defRPr sz="850" b="1">
                <a:solidFill>
                  <a:srgbClr val="0F172A"/>
                </a:solidFill>
              </a:defRPr>
            </a:pPr>
            <a:r>
              <a:t>PRECISION | 0 False Alarms (0 FP)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417320"/>
            <a:ext cx="254203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94.29%</a:t>
            </a:r>
          </a:p>
          <a:p>
            <a:pPr algn="ctr">
              <a:defRPr sz="850" b="1">
                <a:solidFill>
                  <a:srgbClr val="0F172A"/>
                </a:solidFill>
              </a:defRPr>
            </a:pPr>
            <a:r>
              <a:t>RECALL | 99 / 105 Faults Detected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06256" y="1417320"/>
            <a:ext cx="254203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59669"/>
                </a:solidFill>
              </a:defRPr>
            </a:pPr>
            <a:r>
              <a:t>0 ALARMS</a:t>
            </a:r>
          </a:p>
          <a:p>
            <a:pPr algn="ctr">
              <a:defRPr sz="850" b="1">
                <a:solidFill>
                  <a:srgbClr val="0F172A"/>
                </a:solidFill>
              </a:defRPr>
            </a:pPr>
            <a:r>
              <a:t>NORMAL BREAKS | 222 IDLE breaks passed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68880"/>
            <a:ext cx="254203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8A00"/>
                </a:solidFill>
              </a:defRPr>
            </a:pPr>
            <a:r>
              <a:t>Rs 1,127.79</a:t>
            </a:r>
          </a:p>
          <a:p>
            <a:pPr algn="ctr">
              <a:defRPr sz="850" b="1">
                <a:solidFill>
                  <a:srgbClr val="0F172A"/>
                </a:solidFill>
              </a:defRPr>
            </a:pPr>
            <a:r>
              <a:t>4.78% COST SAVINGS | Rs 23,575.50 -&gt; Rs 22,447.71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2468880"/>
            <a:ext cx="254203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12.51 kW</a:t>
            </a:r>
          </a:p>
          <a:p>
            <a:pPr algn="ctr">
              <a:defRPr sz="850" b="1">
                <a:solidFill>
                  <a:srgbClr val="0F172A"/>
                </a:solidFill>
              </a:defRPr>
            </a:pPr>
            <a:r>
              <a:t>PEAK SHAVED | 8.08% coincident reduction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2468880"/>
            <a:ext cx="254203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59669"/>
                </a:solidFill>
              </a:defRPr>
            </a:pPr>
            <a:r>
              <a:t>13.40 kWh</a:t>
            </a:r>
          </a:p>
          <a:p>
            <a:pPr algn="ctr">
              <a:defRPr sz="850" b="1">
                <a:solidFill>
                  <a:srgbClr val="0F172A"/>
                </a:solidFill>
              </a:defRPr>
            </a:pPr>
            <a:r>
              <a:t>ENERGY SAVINGS / DAY | 0.42% daily waste cut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2468880"/>
            <a:ext cx="254203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8A00"/>
                </a:solidFill>
              </a:defRPr>
            </a:pPr>
            <a:r>
              <a:t>100.0%</a:t>
            </a:r>
          </a:p>
          <a:p>
            <a:pPr algn="ctr">
              <a:defRPr sz="850" b="1">
                <a:solidFill>
                  <a:srgbClr val="0F172A"/>
                </a:solidFill>
              </a:defRPr>
            </a:pPr>
            <a:r>
              <a:t>OUTPUT CONSERVED | 4,500 kg &amp; 2,500 m3 met</a:t>
            </a:r>
          </a:p>
        </p:txBody>
      </p:sp>
      <p:pic>
        <p:nvPicPr>
          <p:cNvPr id="13" name="Picture 12" descr="slide8_benchmark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844" y="3476605"/>
            <a:ext cx="10728655" cy="33813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545775" y="645566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59669"/>
                </a:solidFill>
              </a:defRPr>
            </a:pPr>
            <a:r>
              <a:t>SUSTAINABILITY &amp; ESG | SCOPE 2 GHG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Every Energy Decision Has a Carbon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Translating electrical demand-response load shifting and idle waste elimination into transparent Scope 2 decarbonization.</a:t>
            </a:r>
          </a:p>
        </p:txBody>
      </p:sp>
      <p:pic>
        <p:nvPicPr>
          <p:cNvPr id="5" name="Picture 4" descr="slide9_carbon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44338"/>
            <a:ext cx="10728655" cy="307313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826" y="4100849"/>
            <a:ext cx="52578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24-HOUR OPTIMIZATION DECARBONIZATION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• Baseline Daily Scope 2 Emissions: 2,618.84 kg CO2e / day (3,193.71 kWh * 0.82 kg/kWh)</a:t>
            </a:r>
            <a:br/>
            <a:r>
              <a:t>• Optimized Daily Scope 2 Emissions: 2,607.85 kg CO2e / day (3,180.31 kWh * 0.82 kg/kWh)</a:t>
            </a:r>
            <a:br/>
            <a:r>
              <a:t>• Modeled Daily Avoided Emissions: [-] 10.99 kg CO2e / day (From 13.40 kWh/day waste cut)</a:t>
            </a:r>
            <a:br/>
            <a:r>
              <a:t>• Production Carbon Intensity: 0.5820 -&gt; 0.5795 kg CO2e / kg finished yarn</a:t>
            </a:r>
            <a:br/>
            <a:r>
              <a:t>• Modeled Annualized Carbon Savings: ~3.30 Tonnes CO2e / year (Based on 300 operating days)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2374" y="4100848"/>
            <a:ext cx="52578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14-DAY FACTORY TELEMETRY BASELINE FOOTPRINT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• Total Plant Electricity Consumed: 42,002.64 kWh across 14 days (Average: 3,000.2 kWh/day)</a:t>
            </a:r>
            <a:br/>
            <a:r>
              <a:t>• Total Scope 2 Carbon Footprint: 34,442.17 kg CO2e (34.442 Metric Tonnes CO2e)</a:t>
            </a:r>
            <a:br/>
            <a:r>
              <a:t>• Finished Commercial Production: 60,338.07 kg ring-spun yarn (4,309.9 kg/day)</a:t>
            </a:r>
            <a:br/>
            <a:r>
              <a:t>• Factory Specific Energy Consumption (SEC): 0.696 kWh / kg yarn (Benchmark: 0.65 - 0.75)</a:t>
            </a:r>
            <a:br/>
            <a:r>
              <a:t>• 14-Day Baseline Carbon Intensity: 0.571 kg CO2e / kg finished yarn 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19" y="6066808"/>
            <a:ext cx="10728655" cy="62179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rPr dirty="0"/>
              <a:t>CARBON METHODOLOGY NOTE:</a:t>
            </a:r>
          </a:p>
          <a:p>
            <a:pPr algn="ctr">
              <a:defRPr sz="850">
                <a:solidFill>
                  <a:srgbClr val="64748B"/>
                </a:solidFill>
              </a:defRPr>
            </a:pPr>
            <a:r>
              <a:rPr dirty="0"/>
              <a:t>0.82 kg CO2e/kWh used as a synthetic benchmark for this simulation (CEA Baseline Database v19 reference assumption). Annualized estimate: 3.30 t CO2e/year assuming 300 operating days.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45775" y="645566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59669"/>
                </a:solidFill>
              </a:defRPr>
            </a:pPr>
            <a:r>
              <a:t>DEPLOYMENT ROADMAP | BROWNFIELD RETROFITTING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From Software Prototype to Factory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Non-invasive, hardware-agnostic architecture designed for rapid SME adoption without machinery replacement.</a:t>
            </a:r>
          </a:p>
        </p:txBody>
      </p:sp>
      <p:pic>
        <p:nvPicPr>
          <p:cNvPr id="5" name="Picture 4" descr="retrofit_electrical_panel_17891114934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5212080" cy="3017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617720"/>
            <a:ext cx="521208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NON-INVASIVE BROWNFIELD RETROFIT STACK:</a:t>
            </a:r>
          </a:p>
          <a:p>
            <a:pPr algn="ctr">
              <a:defRPr sz="850">
                <a:solidFill>
                  <a:srgbClr val="64748B"/>
                </a:solidFill>
              </a:defRPr>
            </a:pPr>
            <a:r>
              <a:t>Split-core CTs clamped on live phase feeders  |  DIN-Rail Modbus RTU / MQTT Gateway  |  Zero machinery replacement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508760"/>
            <a:ext cx="5333695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defRPr sz="1050" b="1">
                <a:solidFill>
                  <a:srgbClr val="2563EB"/>
                </a:solidFill>
              </a:defRPr>
            </a:pPr>
            <a:r>
              <a:t>STAGE 1: PILOT (Month 1)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Install digital sub-meters on 4 core feeder lines; establish baseline telemetry &amp; quantify idle waste.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496312"/>
            <a:ext cx="5333695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defRPr sz="1050" b="1">
                <a:solidFill>
                  <a:srgbClr val="06B6D4"/>
                </a:solidFill>
              </a:defRPr>
            </a:pPr>
            <a:r>
              <a:t>STAGE 2: VALIDATE (Month 2)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Validate Data Quality Index &amp; sensor plausible bounds; establish nominal baseline temperature &amp; vibration.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483864"/>
            <a:ext cx="5333695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defRPr sz="1050" b="1">
                <a:solidFill>
                  <a:srgbClr val="008A00"/>
                </a:solidFill>
              </a:defRPr>
            </a:pPr>
            <a:r>
              <a:t>STAGE 3: CALIBRATE (Month 3)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Train machine-specific Isolation Forests on clean baseline; calibrate process coupling ratios and 4-tier alerts.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471416"/>
            <a:ext cx="5333695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defRPr sz="1050" b="1">
                <a:solidFill>
                  <a:srgbClr val="9333EA"/>
                </a:solidFill>
              </a:defRPr>
            </a:pPr>
            <a:r>
              <a:t>STAGE 4: SCALE (Month 4+)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Deploy 24-hour PuLP demand-response production scheduling; automate daily Scope 2 ESG reports.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577840"/>
            <a:ext cx="10728655" cy="685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PROTOTYPE MATURITY &amp; NEXT STEPS: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Designed for brownfield retrofit. Current prototype uses synthetic telemetry and simulation. Real deployment requires pilot validation with factory telemetry.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6455664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SME-EnergyIQ | Schneider Electric Yuva Yodha Energy Tech Hackathon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45775" y="645566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59669"/>
                </a:solidFill>
              </a:defRPr>
            </a:pPr>
            <a:r>
              <a:t>COMMERCIAL VIABILITY | MARKET EXPANSION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Built for SMEs - Designed to Scale Across Industry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Low capital barrier, rapid payback, and expandable architecture across energy-intensive manufacturing clusters.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rPr dirty="0"/>
              <a:t>TARGET SECTORS &amp; EXPANSION PATHWAY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rPr dirty="0"/>
              <a:t>• Immediate Beachhead: Indian Textile Clusters</a:t>
            </a:r>
            <a:br>
              <a:rPr dirty="0"/>
            </a:br>
            <a:r>
              <a:rPr dirty="0"/>
              <a:t>  - Tirupur, Surat, Coimbatore, Ludhiana, Bhilwara</a:t>
            </a:r>
            <a:br>
              <a:rPr dirty="0"/>
            </a:br>
            <a:r>
              <a:rPr dirty="0"/>
              <a:t>  - Ring spinning, air-jet weaving, wet processing/dyeing</a:t>
            </a:r>
            <a:br>
              <a:rPr dirty="0"/>
            </a:br>
            <a:r>
              <a:rPr dirty="0"/>
              <a:t>  - Electricity accounts for 15% to 25% of conversion costs</a:t>
            </a:r>
            <a:br>
              <a:rPr dirty="0"/>
            </a:br>
            <a:br>
              <a:rPr dirty="0"/>
            </a:br>
            <a:r>
              <a:rPr dirty="0"/>
              <a:t>• Cross-Sector Expansion Verticals (Identical Asset Types):</a:t>
            </a:r>
            <a:br>
              <a:rPr dirty="0"/>
            </a:br>
            <a:r>
              <a:rPr dirty="0"/>
              <a:t>  1. Food Processing &amp; Cold Storage (Refrigeration, Compressors, Pumps)</a:t>
            </a:r>
            <a:br>
              <a:rPr dirty="0"/>
            </a:br>
            <a:r>
              <a:rPr dirty="0"/>
              <a:t>  2. Plastics &amp; Polymer Molding (Injection presses, Hydraulic motors)</a:t>
            </a:r>
            <a:br>
              <a:rPr dirty="0"/>
            </a:br>
            <a:r>
              <a:rPr dirty="0"/>
              <a:t>  3. Pulp, Paper &amp; Packaging (Continuous refining, Pulp pumps)</a:t>
            </a:r>
            <a:br>
              <a:rPr dirty="0"/>
            </a:br>
            <a:r>
              <a:rPr dirty="0"/>
              <a:t>  4. Light Metal Engineering (Air compressors, CNC clusters)</a:t>
            </a:r>
            <a:br>
              <a:rPr dirty="0"/>
            </a:br>
            <a:br>
              <a:rPr dirty="0"/>
            </a:br>
            <a:r>
              <a:rPr dirty="0"/>
              <a:t>• Universal Value Drivers:</a:t>
            </a:r>
            <a:br>
              <a:rPr dirty="0"/>
            </a:br>
            <a:r>
              <a:rPr dirty="0"/>
              <a:t>  </a:t>
            </a:r>
            <a:r>
              <a:rPr dirty="0" err="1"/>
              <a:t>ToD</a:t>
            </a:r>
            <a:r>
              <a:rPr dirty="0"/>
              <a:t> tariff shifting, peak demand penalty avoidance, and machine health visibility apply across all continuous process SMEs.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508760"/>
            <a:ext cx="5333695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100" b="1">
                <a:solidFill>
                  <a:srgbClr val="008A00"/>
                </a:solidFill>
              </a:defRPr>
            </a:pPr>
            <a:r>
              <a:t>COMMERCIAL MODEL &amp; PAYBACK FRAMEWORK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• Commercial Business Model:</a:t>
            </a:r>
            <a:br/>
            <a:r>
              <a:t>  - Retrofit Hardware: Off-the-shelf split-core CTs &amp; Modbus meters</a:t>
            </a:r>
            <a:br/>
            <a:r>
              <a:t>  - Software Subscription (SaaS): Tiered monthly / annual license</a:t>
            </a:r>
            <a:br/>
            <a:r>
              <a:t>  - Pilot -&gt; Validate -&gt; Calibrate -&gt; Scale adoption pathway</a:t>
            </a:r>
            <a:br/>
            <a:br/>
            <a:r>
              <a:t>• Financial Payback Formula:</a:t>
            </a:r>
            <a:br/>
            <a:r>
              <a:t>  Payback = (Installation Cost + Initial Software Cost) / Verified Annual Savings</a:t>
            </a:r>
            <a:br/>
            <a:br/>
            <a:r>
              <a:t>• Compelling SME Economics:</a:t>
            </a:r>
            <a:br/>
            <a:r>
              <a:t>  - Modeled electricity cost savings of ~Rs 3.38 Lakhs / year</a:t>
            </a:r>
            <a:br/>
            <a:r>
              <a:t>    (Rs 1,127.79/day * 300 operating days)</a:t>
            </a:r>
            <a:br/>
            <a:r>
              <a:t>  - Shaving 12.51 kW peak demand avoids steep contract demand penalties</a:t>
            </a:r>
            <a:br/>
            <a:r>
              <a:t>  - Transparent capital recovery without large equipment investment.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577840"/>
            <a:ext cx="10728655" cy="685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COMMERCIAL PRICING NOTE: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Installation cost to be finalized using actual BOM and vendor quotations. Prototype does not claim pre-negotiated market hardware pricing.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6455664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SME-EnergyIQ | Schneider Electric Yuva Yodha Energy Tech Hackathon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645566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8A00"/>
                </a:solidFill>
              </a:defRPr>
            </a:pPr>
            <a:r>
              <a:t>EXECUTIVE SUMMARY |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728655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From Energy Data to Intelligent Factory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Empowering manufacturing SMEs to turn machine data into energy-efficient, health-aware, and production-conscious decisions.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10728655" cy="1188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dirty="0"/>
              <a:t>SME-Energy</a:t>
            </a:r>
          </a:p>
          <a:p>
            <a:pPr algn="ctr">
              <a:defRPr sz="1100" b="1">
                <a:solidFill>
                  <a:srgbClr val="008A00"/>
                </a:solidFill>
              </a:defRPr>
            </a:pPr>
            <a:r>
              <a:rPr dirty="0"/>
              <a:t>MEASURE   -&gt;   DETECT   -&gt;   DIAGNOSE   -&gt;   OPTIMIZE   -&gt;   QUANTIFY   -&gt;   DECIDE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3858" y="2788920"/>
            <a:ext cx="3517059" cy="31135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defRPr sz="1100" b="1">
                <a:solidFill>
                  <a:srgbClr val="008A00"/>
                </a:solidFill>
              </a:defRPr>
            </a:pPr>
            <a:r>
              <a:t>PHYSICS + AI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Transparent Diagnostics</a:t>
            </a:r>
          </a:p>
          <a:p>
            <a:br/>
            <a:r>
              <a:t>* 100.00% Precision with 0 False Alarms</a:t>
            </a:r>
            <a:br/>
            <a:r>
              <a:t>* 97.06% F1 on 5,248 observations (105 faults)</a:t>
            </a:r>
            <a:br/>
            <a:r>
              <a:t>* Transparent 4-tier physical evidence</a:t>
            </a:r>
            <a:br/>
            <a:r>
              <a:t>* Health: 100/100 across all 4 machines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1458" y="2788920"/>
            <a:ext cx="3517059" cy="31135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rPr dirty="0" err="1"/>
              <a:t>PuLP</a:t>
            </a:r>
            <a:r>
              <a:rPr dirty="0"/>
              <a:t> MILP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rPr dirty="0"/>
              <a:t>Actionable Scheduling</a:t>
            </a:r>
          </a:p>
          <a:p>
            <a:br>
              <a:rPr dirty="0"/>
            </a:br>
            <a:r>
              <a:rPr dirty="0"/>
              <a:t>* Rs 1,127.79/day (4.78%) cost savings</a:t>
            </a:r>
            <a:br>
              <a:rPr dirty="0"/>
            </a:br>
            <a:r>
              <a:rPr dirty="0"/>
              <a:t>* 12.51 kW (8.08%) peak demand shaved</a:t>
            </a:r>
            <a:br>
              <a:rPr dirty="0"/>
            </a:br>
            <a:r>
              <a:rPr dirty="0"/>
              <a:t>* 13.40 kWh/day (0.42%) energy saved</a:t>
            </a:r>
            <a:br>
              <a:rPr dirty="0"/>
            </a:br>
            <a:r>
              <a:rPr dirty="0"/>
              <a:t>* 100.0% production quota conserved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9059" y="2788920"/>
            <a:ext cx="3501115" cy="31135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SCOPE 2 ESG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Automated Accounting</a:t>
            </a:r>
          </a:p>
          <a:p>
            <a:br/>
            <a:r>
              <a:t>* 10.99 kg CO2e/day avoided emissions</a:t>
            </a:r>
            <a:br/>
            <a:r>
              <a:t>* ~3.30 Tonnes CO2e/year decarbonization</a:t>
            </a:r>
            <a:br/>
            <a:r>
              <a:t>* 0.571 kg CO2e/kg 14-day carbon intensity</a:t>
            </a:r>
            <a:br/>
            <a:r>
              <a:t>* Automated daily ESG compliance tracking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659" y="5845299"/>
            <a:ext cx="10728655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rPr dirty="0"/>
              <a:t>Thank You!</a:t>
            </a:r>
          </a:p>
          <a:p>
            <a:pPr algn="ctr">
              <a:defRPr sz="1100">
                <a:solidFill>
                  <a:srgbClr val="008A00"/>
                </a:solidFill>
              </a:defRPr>
            </a:pPr>
            <a:r>
              <a:rPr dirty="0"/>
              <a:t>Questions &amp; Discussion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45775" y="645566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50" b="1">
                <a:solidFill>
                  <a:srgbClr val="008A00"/>
                </a:solidFill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FFFFFF"/>
      </a:dk1>
      <a:lt1>
        <a:sysClr val="window" lastClr="20202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686</TotalTime>
  <Words>2741</Words>
  <Application>Microsoft Macintosh PowerPoint</Application>
  <PresentationFormat>Widescreen</PresentationFormat>
  <Paragraphs>241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cx l</cp:lastModifiedBy>
  <cp:revision>2</cp:revision>
  <dcterms:created xsi:type="dcterms:W3CDTF">2013-01-27T09:14:16Z</dcterms:created>
  <dcterms:modified xsi:type="dcterms:W3CDTF">2026-10-03T09:45:39Z</dcterms:modified>
  <cp:category/>
</cp:coreProperties>
</file>